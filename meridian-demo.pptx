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3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2E48"/>
                </a:solidFill>
                <a:latin typeface="DM Sans"/>
              </a:rPr>
              <a:t>meridian </a:t>
            </a:r>
            <a:r>
              <a:rPr sz="2400" b="0">
                <a:solidFill>
                  <a:srgbClr val="5DBEB7"/>
                </a:solidFill>
                <a:latin typeface="DM Sans"/>
              </a:rPr>
              <a:t>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800000"/>
            <a:ext cx="1019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A2E48"/>
                </a:solidFill>
                <a:latin typeface="Georgia"/>
              </a:rPr>
              <a:t>The story of your future is written
on top of </a:t>
            </a:r>
            <a:r>
              <a:rPr sz="5200" b="1">
                <a:solidFill>
                  <a:srgbClr val="5DBEB7"/>
                </a:solidFill>
                <a:latin typeface="Georgia"/>
              </a:rPr>
              <a:t>two curves.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2800000"/>
            <a:ext cx="5400000" cy="3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29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E48"/>
                </a:solidFill>
                <a:latin typeface="Calibri"/>
              </a:defRPr>
            </a:pPr>
            <a:r>
              <a:t>Quality of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3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E82"/>
                </a:solidFill>
                <a:latin typeface="Calibri"/>
              </a:defRPr>
            </a:pPr>
            <a:r>
              <a:t>What your body can do at every age — from full capability to needing help.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800000"/>
            <a:ext cx="5400000" cy="3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0000" y="29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E48"/>
                </a:solidFill>
                <a:latin typeface="Calibri"/>
              </a:defRPr>
            </a:pPr>
            <a:r>
              <a:t>Probability of survival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0" y="33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E82"/>
                </a:solidFill>
                <a:latin typeface="Calibri"/>
              </a:defRPr>
            </a:pPr>
            <a:r>
              <a:t>Your likelihood of being alive at each age, based on your health profile.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0000" y="65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A0B4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3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2E48"/>
                </a:solidFill>
                <a:latin typeface="DM Sans"/>
              </a:rPr>
              <a:t>meridian </a:t>
            </a:r>
            <a:r>
              <a:rPr sz="2400" b="0">
                <a:solidFill>
                  <a:srgbClr val="5DBEB7"/>
                </a:solidFill>
                <a:latin typeface="DM Sans"/>
              </a:rPr>
              <a:t>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000" y="1200000"/>
            <a:ext cx="919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A2E48"/>
                </a:solidFill>
                <a:latin typeface="Georgia"/>
              </a:rPr>
              <a:t>Those curves are shaped by
your </a:t>
            </a:r>
            <a:r>
              <a:rPr sz="4800" b="1">
                <a:solidFill>
                  <a:srgbClr val="0A2E48"/>
                </a:solidFill>
                <a:latin typeface="Georgia"/>
              </a:rPr>
              <a:t>blood</a:t>
            </a:r>
            <a:r>
              <a:rPr sz="4800" b="1">
                <a:solidFill>
                  <a:srgbClr val="0A2E48"/>
                </a:solidFill>
                <a:latin typeface="Georgia"/>
              </a:rPr>
              <a:t>, </a:t>
            </a:r>
            <a:r>
              <a:rPr sz="4800" b="1">
                <a:solidFill>
                  <a:srgbClr val="0A2E48"/>
                </a:solidFill>
                <a:latin typeface="Georgia"/>
              </a:rPr>
              <a:t>behavior</a:t>
            </a:r>
            <a:r>
              <a:rPr sz="4800" b="1">
                <a:solidFill>
                  <a:srgbClr val="0A2E48"/>
                </a:solidFill>
                <a:latin typeface="Georgia"/>
              </a:rPr>
              <a:t>,
and </a:t>
            </a:r>
            <a:r>
              <a:rPr sz="4800" b="1">
                <a:solidFill>
                  <a:srgbClr val="0A2E48"/>
                </a:solidFill>
                <a:latin typeface="Georgia"/>
              </a:rPr>
              <a:t>DNA</a:t>
            </a:r>
            <a:r>
              <a:rPr sz="4800" b="1">
                <a:solidFill>
                  <a:srgbClr val="0A2E48"/>
                </a:solidFill>
                <a:latin typeface="Georgia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34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A2E48"/>
                </a:solidFill>
                <a:latin typeface="Calibri"/>
              </a:defRPr>
            </a:pPr>
            <a:r>
              <a:t>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38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E48"/>
                </a:solidFill>
                <a:latin typeface="Calibri"/>
              </a:defRPr>
            </a:pPr>
            <a:r>
              <a:t>Blood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0" y="4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82"/>
                </a:solidFill>
                <a:latin typeface="Calibri"/>
              </a:defRPr>
            </a:pPr>
            <a:r>
              <a:t>Cholesterol, inflammation, hormones — the biomarkers that explain what your body is tracking right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000" y="34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A2E48"/>
                </a:solidFill>
                <a:latin typeface="Calibri"/>
              </a:defRPr>
            </a:pPr>
            <a:r>
              <a:t>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38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E48"/>
                </a:solidFill>
                <a:latin typeface="Calibri"/>
              </a:defRPr>
            </a:pPr>
            <a:r>
              <a:t>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0" y="4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82"/>
                </a:solidFill>
                <a:latin typeface="Calibri"/>
              </a:defRPr>
            </a:pPr>
            <a:r>
              <a:t>Fitness, sleep, training consistency — the daily choices that move your curve up or down.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0000" y="3400000"/>
            <a:ext cx="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A2E48"/>
                </a:solidFill>
                <a:latin typeface="Calibri"/>
              </a:defRPr>
            </a:pPr>
            <a:r>
              <a:t>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00000" y="3800000"/>
            <a:ext cx="3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A2E48"/>
                </a:solidFill>
                <a:latin typeface="Calibri"/>
              </a:defRPr>
            </a:pPr>
            <a:r>
              <a:t>DNA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00000" y="4200000"/>
            <a:ext cx="32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E82"/>
                </a:solidFill>
                <a:latin typeface="Calibri"/>
              </a:defRPr>
            </a:pPr>
            <a:r>
              <a:t>Genetic variants that set your baseline — and help you know what matters most, what to test, and how to 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0000" y="65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A0B4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3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2E48"/>
                </a:solidFill>
                <a:latin typeface="DM Sans"/>
              </a:rPr>
              <a:t>meridian </a:t>
            </a:r>
            <a:r>
              <a:rPr sz="2400" b="0">
                <a:solidFill>
                  <a:srgbClr val="5DBEB7"/>
                </a:solidFill>
                <a:latin typeface="DM Sans"/>
              </a:rPr>
              <a:t>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000000"/>
            <a:ext cx="10192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0A2E48"/>
                </a:solidFill>
                <a:latin typeface="Georgia"/>
              </a:rPr>
              <a:t>If you know what to do,
you can </a:t>
            </a:r>
            <a:r>
              <a:rPr sz="5200" b="1">
                <a:solidFill>
                  <a:srgbClr val="5DBEB7"/>
                </a:solidFill>
                <a:latin typeface="Georgia"/>
              </a:rPr>
              <a:t>bend the curves.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2800000"/>
            <a:ext cx="5400000" cy="3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0000" y="2800000"/>
            <a:ext cx="5400000" cy="3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9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E48"/>
                </a:solidFill>
                <a:latin typeface="Calibri"/>
              </a:defRPr>
            </a:pPr>
            <a:r>
              <a:t>Quality of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33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E82"/>
                </a:solidFill>
                <a:latin typeface="Calibri"/>
              </a:defRPr>
            </a:pPr>
            <a:r>
              <a:t>The same curve — but with the right interventions, it stays higher for longer.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0000" y="2950000"/>
            <a:ext cx="4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A2E48"/>
                </a:solidFill>
                <a:latin typeface="Calibri"/>
              </a:defRPr>
            </a:pPr>
            <a:r>
              <a:t>Probability of survival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0000" y="3300000"/>
            <a:ext cx="4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E82"/>
                </a:solidFill>
                <a:latin typeface="Calibri"/>
              </a:defRPr>
            </a:pPr>
            <a:r>
              <a:t>The gap between the lines is what knowing — and acting — is worth.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0000" y="65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A0B4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1500000"/>
            <a:ext cx="5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0" b="1">
                <a:solidFill>
                  <a:srgbClr val="5DBEB7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3400000"/>
            <a:ext cx="5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CF2FD"/>
                </a:solidFill>
                <a:latin typeface="Calibri"/>
              </a:defRPr>
            </a:pPr>
            <a:r>
              <a:t>more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90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6A0B4"/>
                </a:solidFill>
                <a:latin typeface="Calibri"/>
              </a:defRPr>
            </a:pPr>
            <a:r>
              <a:t>of being anything you want.</a:t>
            </a:r>
            <a:br/>
            <a:r>
              <a:t>That's the gap between average and best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0000" y="1500000"/>
            <a:ext cx="5400000" cy="3500000"/>
          </a:xfrm>
          <a:prstGeom prst="roundRect">
            <a:avLst/>
          </a:prstGeom>
          <a:solidFill>
            <a:srgbClr val="123A55"/>
          </a:solidFill>
          <a:ln w="12700">
            <a:solidFill>
              <a:srgbClr val="1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0000" y="6300000"/>
            <a:ext cx="3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99D5D3"/>
                </a:solidFill>
                <a:latin typeface="DM Sans"/>
              </a:rPr>
              <a:t>meridian </a:t>
            </a:r>
            <a:r>
              <a:rPr sz="2400" b="0">
                <a:solidFill>
                  <a:srgbClr val="FFFFFF"/>
                </a:solidFill>
                <a:latin typeface="DM Sans"/>
              </a:rPr>
              <a:t>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0" y="65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50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3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2E48"/>
                </a:solidFill>
                <a:latin typeface="DM Sans"/>
              </a:rPr>
              <a:t>meridian </a:t>
            </a:r>
            <a:r>
              <a:rPr sz="2400" b="0">
                <a:solidFill>
                  <a:srgbClr val="5DBEB7"/>
                </a:solidFill>
                <a:latin typeface="DM Sans"/>
              </a:rPr>
              <a:t>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1000000"/>
            <a:ext cx="101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A2E48"/>
                </a:solidFill>
                <a:latin typeface="Georgia"/>
              </a:defRPr>
            </a:pPr>
            <a:r>
              <a:t>What if?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00000" y="3200000"/>
            <a:ext cx="3800000" cy="1400000"/>
          </a:xfrm>
          <a:prstGeom prst="roundRect">
            <a:avLst/>
          </a:prstGeom>
          <a:solidFill>
            <a:srgbClr val="0A2E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00000" y="3400000"/>
            <a:ext cx="34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99D5D3"/>
                </a:solidFill>
                <a:latin typeface="DM Sans"/>
              </a:rPr>
              <a:t>meridian </a:t>
            </a:r>
            <a:r>
              <a:rPr sz="2800">
                <a:solidFill>
                  <a:srgbClr val="FFFFFF"/>
                </a:solidFill>
                <a:latin typeface="DM Sans"/>
              </a:rPr>
              <a:t>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000" y="39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0B4"/>
                </a:solidFill>
                <a:latin typeface="Calibri"/>
              </a:defRPr>
            </a:pPr>
            <a:r>
              <a:t>HEALTH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0000" y="35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96A0B4"/>
                </a:solidFill>
                <a:latin typeface="Calibri"/>
              </a:defRPr>
            </a:pPr>
            <a: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0000" y="3200000"/>
            <a:ext cx="3800000" cy="1400000"/>
          </a:xfrm>
          <a:prstGeom prst="roundRect">
            <a:avLst/>
          </a:prstGeom>
          <a:solidFill>
            <a:srgbClr val="092C4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00000" y="3500000"/>
            <a:ext cx="3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Colonial Life.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0000" y="39000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6A0B4"/>
                </a:solidFill>
                <a:latin typeface="Calibri"/>
              </a:defRPr>
            </a:pPr>
            <a:r>
              <a:t>CRITICAL ILLNESS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0000" y="350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2E48"/>
                </a:solidFill>
                <a:latin typeface="Georgia"/>
              </a:defRPr>
            </a:pPr>
            <a:r>
              <a:t>= Executive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0000" y="4900000"/>
            <a:ext cx="9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6E82"/>
                </a:solidFill>
                <a:latin typeface="Calibri"/>
              </a:defRPr>
            </a:pPr>
            <a:r>
              <a:t>A new category: critical illness insurance supercharged with continuous health intelligence.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0000" y="65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6A0B4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E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0000" y="250000"/>
            <a:ext cx="35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99D5D3"/>
                </a:solidFill>
                <a:latin typeface="DM Sans"/>
              </a:rPr>
              <a:t>meridian </a:t>
            </a:r>
            <a:r>
              <a:rPr sz="2400" b="0">
                <a:solidFill>
                  <a:srgbClr val="FFFFFF"/>
                </a:solidFill>
                <a:latin typeface="DM Sans"/>
              </a:rPr>
              <a:t>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0000" y="800000"/>
            <a:ext cx="10192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CF2FD"/>
                </a:solidFill>
                <a:latin typeface="Georgia"/>
              </a:rPr>
              <a:t>What it could </a:t>
            </a:r>
            <a:r>
              <a:rPr sz="4800" b="1">
                <a:solidFill>
                  <a:srgbClr val="5DBEB7"/>
                </a:solidFill>
                <a:latin typeface="Georgia"/>
              </a:rPr>
              <a:t>mean.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2200000"/>
            <a:ext cx="3200000" cy="2800000"/>
          </a:xfrm>
          <a:prstGeom prst="roundRect">
            <a:avLst/>
          </a:prstGeom>
          <a:solidFill>
            <a:srgbClr val="103852"/>
          </a:solidFill>
          <a:ln w="12700">
            <a:solidFill>
              <a:srgbClr val="1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000" y="245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5DBEB7"/>
                </a:solidFill>
                <a:latin typeface="Georgia"/>
              </a:defRPr>
            </a:pPr>
            <a:r>
              <a:t>2–3×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000" y="310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2FD"/>
                </a:solidFill>
                <a:latin typeface="Calibri"/>
              </a:defRPr>
            </a:pPr>
            <a:r>
              <a:t>Broker commissions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000" y="3500000"/>
            <a:ext cx="27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A0B4"/>
                </a:solidFill>
                <a:latin typeface="Calibri"/>
              </a:defRPr>
            </a:pPr>
            <a:r>
              <a:t>Meridian layer on top of base CI gives brokers a reason to sell — and earn 2–3× the commission of the base product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0000" y="2200000"/>
            <a:ext cx="3200000" cy="2800000"/>
          </a:xfrm>
          <a:prstGeom prst="roundRect">
            <a:avLst/>
          </a:prstGeom>
          <a:solidFill>
            <a:srgbClr val="103852"/>
          </a:solidFill>
          <a:ln w="12700">
            <a:solidFill>
              <a:srgbClr val="1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0000" y="245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5DBEB7"/>
                </a:solidFill>
                <a:latin typeface="Georgia"/>
              </a:defRPr>
            </a:pPr>
            <a:r>
              <a:t>Take share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0000" y="310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2FD"/>
                </a:solidFill>
                <a:latin typeface="Calibri"/>
              </a:defRPr>
            </a:pPr>
            <a:r>
              <a:t>Displace the incumbent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0000" y="3500000"/>
            <a:ext cx="27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A0B4"/>
                </a:solidFill>
                <a:latin typeface="Calibri"/>
              </a:defRPr>
            </a:pPr>
            <a:r>
              <a:t>A differentiated product gives brokers a reason to re-open every account. New story, new sale.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0000" y="2200000"/>
            <a:ext cx="3200000" cy="2800000"/>
          </a:xfrm>
          <a:prstGeom prst="roundRect">
            <a:avLst/>
          </a:prstGeom>
          <a:solidFill>
            <a:srgbClr val="103852"/>
          </a:solidFill>
          <a:ln w="12700">
            <a:solidFill>
              <a:srgbClr val="1A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0000" y="2450000"/>
            <a:ext cx="2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5DBEB7"/>
                </a:solidFill>
                <a:latin typeface="Georgia"/>
              </a:defRPr>
            </a:pPr>
            <a:r>
              <a:t>↓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0000" y="3100000"/>
            <a:ext cx="2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F2FD"/>
                </a:solidFill>
                <a:latin typeface="Calibri"/>
              </a:defRPr>
            </a:pPr>
            <a:r>
              <a:t>Increased margins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0000" y="3500000"/>
            <a:ext cx="27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A0B4"/>
                </a:solidFill>
                <a:latin typeface="Calibri"/>
              </a:defRPr>
            </a:pPr>
            <a:r>
              <a:t>If Meridian catches disease earlier and members act on it, the carrier's loss ratio improves. Better outcomes, lower claims, aligned incentives.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0000" y="65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C3C50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
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" y="200000"/>
            <a:ext cx="3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234B"/>
                </a:solidFill>
              </a:rPr>
              <a:t>meridian </a:t>
            </a:r>
            <a:r>
              <a:rPr sz="2000" b="0">
                <a:solidFill>
                  <a:srgbClr val="0D8086"/>
                </a:solidFill>
              </a:rPr>
              <a:t>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55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1234B"/>
                </a:solidFill>
                <a:latin typeface="DM Sans"/>
              </a:rPr>
              <a:t>One-time setup. </a:t>
            </a:r>
            <a:r>
              <a:rPr sz="4000" b="1">
                <a:solidFill>
                  <a:srgbClr val="0D8086"/>
                </a:solidFill>
                <a:latin typeface="DM Sans"/>
              </a:rPr>
              <a:t>Continuous progress.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35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4566B"/>
                </a:solidFill>
                <a:latin typeface="Calibri"/>
              </a:defRPr>
            </a:pPr>
            <a:r>
              <a:t>You onboard once — then enter a cycle of intelligent progression.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8086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0000" y="1620000"/>
            <a:ext cx="3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8086"/>
                </a:solidFill>
                <a:latin typeface="Calibri"/>
              </a:defRPr>
            </a:pPr>
            <a:r>
              <a:t>MONTHS 1–6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60000" y="1620000"/>
            <a:ext cx="1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8086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0000" y="1620000"/>
            <a:ext cx="3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8086"/>
                </a:solidFill>
                <a:latin typeface="Calibri"/>
              </a:defRPr>
            </a:pPr>
            <a:r>
              <a:t>MONTHS 7–12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" y="2500000"/>
            <a:ext cx="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234B"/>
                </a:solidFill>
                <a:latin typeface="DM Sans"/>
              </a:defRPr>
            </a:pPr>
            <a: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" y="4400000"/>
            <a:ext cx="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8086"/>
                </a:solidFill>
                <a:latin typeface="DM Sans"/>
              </a:defRPr>
            </a:pPr>
            <a:r>
              <a:t>MERIDIAN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" y="1900000"/>
            <a:ext cx="10100000" cy="1900000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000" y="3800000"/>
            <a:ext cx="10100000" cy="1900000"/>
          </a:xfrm>
          <a:prstGeom prst="rect">
            <a:avLst/>
          </a:prstGeom>
          <a:solidFill>
            <a:srgbClr val="EE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000" y="3790000"/>
            <a:ext cx="10100000" cy="200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000" y="1900000"/>
            <a:ext cx="20000" cy="380000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0000" y="2000000"/>
            <a:ext cx="1600000" cy="36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D8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2150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1234B"/>
                </a:solidFill>
                <a:latin typeface="Calibri"/>
              </a:defRPr>
            </a:pPr>
            <a:r>
              <a:t>🧬  🩸  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255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234B"/>
                </a:solidFill>
                <a:latin typeface="DM Sans"/>
              </a:defRPr>
            </a:pPr>
            <a:r>
              <a:t>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0" y="2900000"/>
            <a:ext cx="15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>
                <a:solidFill>
                  <a:srgbClr val="54566B"/>
                </a:solidFill>
                <a:latin typeface="Calibri"/>
              </a:defRPr>
            </a:pPr>
            <a:r>
              <a:t>Genetics kit</a:t>
            </a:r>
          </a:p>
          <a:p>
            <a:pPr algn="ctr">
              <a:spcAft>
                <a:spcPts val="300"/>
              </a:spcAft>
              <a:defRPr sz="1000">
                <a:solidFill>
                  <a:srgbClr val="54566B"/>
                </a:solidFill>
                <a:latin typeface="Calibri"/>
              </a:defRPr>
            </a:pPr>
            <a:r>
              <a:t>Blood panel</a:t>
            </a:r>
          </a:p>
          <a:p>
            <a:pPr algn="ctr">
              <a:spcAft>
                <a:spcPts val="300"/>
              </a:spcAft>
              <a:defRPr sz="1000">
                <a:solidFill>
                  <a:srgbClr val="54566B"/>
                </a:solidFill>
                <a:latin typeface="Calibri"/>
              </a:defRPr>
            </a:pPr>
            <a:r>
              <a:t>Wearable sync</a:t>
            </a:r>
          </a:p>
          <a:p>
            <a:pPr algn="ctr">
              <a:spcAft>
                <a:spcPts val="300"/>
              </a:spcAft>
              <a:defRPr sz="1000">
                <a:solidFill>
                  <a:srgbClr val="54566B"/>
                </a:solidFill>
                <a:latin typeface="Calibri"/>
              </a:defRPr>
            </a:pPr>
            <a:r>
              <a:t>Initial assessment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0" y="2000000"/>
            <a:ext cx="3000000" cy="1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80000" y="210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234B"/>
                </a:solidFill>
                <a:latin typeface="DM Sans"/>
              </a:defRPr>
            </a:pPr>
            <a:r>
              <a:t>Work your priorities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80000" y="2450000"/>
            <a:ext cx="650000" cy="280000"/>
          </a:xfrm>
          <a:prstGeom prst="roundRect">
            <a:avLst>
              <a:gd name="adj" fmla="val 10000"/>
            </a:avLst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20000" y="2480000"/>
            <a:ext cx="57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234B"/>
                </a:solidFill>
                <a:latin typeface="Calibri"/>
              </a:defRPr>
            </a:pPr>
            <a:r>
              <a:t>🏋️ Train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0000" y="2450000"/>
            <a:ext cx="650000" cy="280000"/>
          </a:xfrm>
          <a:prstGeom prst="roundRect">
            <a:avLst>
              <a:gd name="adj" fmla="val 10000"/>
            </a:avLst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0000" y="2480000"/>
            <a:ext cx="57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234B"/>
                </a:solidFill>
                <a:latin typeface="Calibri"/>
              </a:defRPr>
            </a:pPr>
            <a:r>
              <a:t>😴 Sleep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0000" y="2450000"/>
            <a:ext cx="650000" cy="280000"/>
          </a:xfrm>
          <a:prstGeom prst="roundRect">
            <a:avLst>
              <a:gd name="adj" fmla="val 10000"/>
            </a:avLst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0000" y="2480000"/>
            <a:ext cx="57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234B"/>
                </a:solidFill>
                <a:latin typeface="Calibri"/>
              </a:defRPr>
            </a:pPr>
            <a:r>
              <a:t>💊 Meds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40000" y="2450000"/>
            <a:ext cx="650000" cy="280000"/>
          </a:xfrm>
          <a:prstGeom prst="roundRect">
            <a:avLst>
              <a:gd name="adj" fmla="val 10000"/>
            </a:avLst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80000" y="2480000"/>
            <a:ext cx="57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234B"/>
                </a:solidFill>
                <a:latin typeface="Calibri"/>
              </a:defRPr>
            </a:pPr>
            <a:r>
              <a:t>🥗 Nutrition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000" y="2900000"/>
            <a:ext cx="2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6B"/>
                </a:solidFill>
                <a:latin typeface="Calibri"/>
              </a:defRPr>
            </a:pPr>
            <a:r>
              <a:t>Wear your device daily. Follow your 3 priorities. Live your life.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3900000"/>
            <a:ext cx="3000000" cy="1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80000" y="400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8086"/>
                </a:solidFill>
                <a:latin typeface="DM Sans"/>
              </a:defRPr>
            </a:pPr>
            <a:r>
              <a:t>Working behind the scenes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80000" y="4350000"/>
            <a:ext cx="800000" cy="280000"/>
          </a:xfrm>
          <a:prstGeom prst="roundRect">
            <a:avLst>
              <a:gd name="adj" fmla="val 10000"/>
            </a:avLst>
          </a:prstGeom>
          <a:solidFill>
            <a:srgbClr val="EE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0000" y="4380000"/>
            <a:ext cx="7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8086"/>
                </a:solidFill>
                <a:latin typeface="Calibri"/>
              </a:defRPr>
            </a:pPr>
            <a:r>
              <a:t>📊 Monitor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50000" y="4350000"/>
            <a:ext cx="800000" cy="280000"/>
          </a:xfrm>
          <a:prstGeom prst="roundRect">
            <a:avLst>
              <a:gd name="adj" fmla="val 10000"/>
            </a:avLst>
          </a:prstGeom>
          <a:solidFill>
            <a:srgbClr val="EE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90000" y="4380000"/>
            <a:ext cx="7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8086"/>
                </a:solidFill>
                <a:latin typeface="Calibri"/>
              </a:defRPr>
            </a:pPr>
            <a:r>
              <a:t>🔬 Research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20000" y="4350000"/>
            <a:ext cx="800000" cy="280000"/>
          </a:xfrm>
          <a:prstGeom prst="roundRect">
            <a:avLst>
              <a:gd name="adj" fmla="val 10000"/>
            </a:avLst>
          </a:prstGeom>
          <a:solidFill>
            <a:srgbClr val="EE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60000" y="4380000"/>
            <a:ext cx="7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8086"/>
                </a:solidFill>
                <a:latin typeface="Calibri"/>
              </a:defRPr>
            </a:pPr>
            <a:r>
              <a:t>🎯 Adjust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80000" y="4800000"/>
            <a:ext cx="2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6B"/>
                </a:solidFill>
                <a:latin typeface="Calibri"/>
              </a:defRPr>
            </a:pPr>
            <a:r>
              <a:t>Track wearable data. Monitor progress. Scan relevant medical studies. Adjust coaching.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0000" y="2000000"/>
            <a:ext cx="1500000" cy="36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D8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0000" y="2400000"/>
            <a:ext cx="1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1234B"/>
                </a:solidFill>
                <a:latin typeface="Calibri"/>
              </a:defRPr>
            </a:pPr>
            <a:r>
              <a:t>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0000" y="290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234B"/>
                </a:solidFill>
                <a:latin typeface="DM Sans"/>
              </a:defRPr>
            </a:pPr>
            <a:r>
              <a:t>Blood panel #2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0000" y="325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566B"/>
                </a:solidFill>
                <a:latin typeface="Calibri"/>
              </a:defRPr>
            </a:pPr>
            <a:r>
              <a:t>Updated</a:t>
            </a:r>
            <a:br/>
            <a:r>
              <a:t>game plan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40000" y="2000000"/>
            <a:ext cx="3000000" cy="1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0000" y="210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234B"/>
                </a:solidFill>
                <a:latin typeface="DM Sans"/>
              </a:defRPr>
            </a:pPr>
            <a:r>
              <a:t>Refined priorities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0000" y="2450000"/>
            <a:ext cx="2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6B"/>
                </a:solidFill>
                <a:latin typeface="Calibri"/>
              </a:defRPr>
            </a:pPr>
            <a:r>
              <a:t>Updated based on your results. What's working stays. What's not gets adjusted.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0000" y="3200000"/>
            <a:ext cx="2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6A0B4"/>
                </a:solidFill>
                <a:latin typeface="Calibri"/>
              </a:defRPr>
            </a:pPr>
            <a:r>
              <a:t>repeats 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40000" y="3900000"/>
            <a:ext cx="3000000" cy="1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0000" y="400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8086"/>
                </a:solidFill>
                <a:latin typeface="DM Sans"/>
              </a:defRPr>
            </a:pPr>
            <a:r>
              <a:t>Smarter every cycle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0000" y="4350000"/>
            <a:ext cx="2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6B"/>
                </a:solidFill>
                <a:latin typeface="Calibri"/>
              </a:defRPr>
            </a:pPr>
            <a:r>
              <a:t>More data = better insights. AI recalibrates risk. New research integrated. Your picture sharpens.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0000" y="5100000"/>
            <a:ext cx="2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6A0B4"/>
                </a:solidFill>
                <a:latin typeface="Calibri"/>
              </a:defRPr>
            </a:pPr>
            <a:r>
              <a:t>repeats 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596000" y="5900000"/>
            <a:ext cx="7000000" cy="350000"/>
          </a:xfrm>
          <a:prstGeom prst="roundRect">
            <a:avLst>
              <a:gd name="adj" fmla="val 10000"/>
            </a:avLst>
          </a:prstGeom>
          <a:solidFill>
            <a:srgbClr val="E0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6000" y="5930000"/>
            <a:ext cx="6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8086"/>
                </a:solidFill>
                <a:latin typeface="Calibri"/>
              </a:defRPr>
            </a:pPr>
            <a:r>
              <a:t>📋 Initial game plan presented → you start working → Meridian keeps optimizing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00000" y="65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A0B4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